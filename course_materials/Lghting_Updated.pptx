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notesMasterIdLst>
    <p:notesMasterId r:id="rId25"/>
  </p:notesMasterIdLst>
  <p:sldIdLst>
    <p:sldId id="256" r:id="rId2"/>
    <p:sldId id="273" r:id="rId3"/>
    <p:sldId id="274" r:id="rId4"/>
    <p:sldId id="275" r:id="rId5"/>
    <p:sldId id="276"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95" autoAdjust="0"/>
    <p:restoredTop sz="94660"/>
  </p:normalViewPr>
  <p:slideViewPr>
    <p:cSldViewPr snapToGrid="0" snapToObjects="1">
      <p:cViewPr varScale="1">
        <p:scale>
          <a:sx n="75" d="100"/>
          <a:sy n="75" d="100"/>
        </p:scale>
        <p:origin x="1365"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30A7B-C654-452E-BD52-7A78CCBD509D}" type="datetimeFigureOut">
              <a:rPr lang="en-KE" smtClean="0"/>
              <a:t>19/05/2026</a:t>
            </a:fld>
            <a:endParaRPr lang="en-K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947C60-41A1-4A4B-B202-601E8408F1AB}" type="slidenum">
              <a:rPr lang="en-KE" smtClean="0"/>
              <a:t>‹#›</a:t>
            </a:fld>
            <a:endParaRPr lang="en-KE"/>
          </a:p>
        </p:txBody>
      </p:sp>
    </p:spTree>
    <p:extLst>
      <p:ext uri="{BB962C8B-B14F-4D97-AF65-F5344CB8AC3E}">
        <p14:creationId xmlns:p14="http://schemas.microsoft.com/office/powerpoint/2010/main" val="1399149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C1947C60-41A1-4A4B-B202-601E8408F1AB}" type="slidenum">
              <a:rPr lang="en-KE" smtClean="0"/>
              <a:t>1</a:t>
            </a:fld>
            <a:endParaRPr lang="en-KE"/>
          </a:p>
        </p:txBody>
      </p:sp>
    </p:spTree>
    <p:extLst>
      <p:ext uri="{BB962C8B-B14F-4D97-AF65-F5344CB8AC3E}">
        <p14:creationId xmlns:p14="http://schemas.microsoft.com/office/powerpoint/2010/main" val="3730271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2418393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0927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4964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6734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5482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675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2283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8154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4570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806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9533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509764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1806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043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5780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8179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5769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5/19/2026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5544522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87438"/>
            <a:ext cx="8229600" cy="3090862"/>
          </a:xfrm>
        </p:spPr>
        <p:txBody>
          <a:bodyPr>
            <a:normAutofit/>
          </a:bodyPr>
          <a:lstStyle/>
          <a:p>
            <a:r>
              <a:rPr lang="en-US" dirty="0"/>
              <a:t>LIGHTING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C6EF59-8D23-18E7-7E15-90706A4991B0}"/>
              </a:ext>
            </a:extLst>
          </p:cNvPr>
          <p:cNvSpPr>
            <a:spLocks noGrp="1"/>
          </p:cNvSpPr>
          <p:nvPr>
            <p:ph idx="1"/>
          </p:nvPr>
        </p:nvSpPr>
        <p:spPr>
          <a:xfrm>
            <a:off x="1041400" y="425450"/>
            <a:ext cx="7645400" cy="5700713"/>
          </a:xfrm>
        </p:spPr>
        <p:txBody>
          <a:bodyPr>
            <a:normAutofit/>
          </a:bodyPr>
          <a:lstStyle/>
          <a:p>
            <a:pPr marL="0" indent="0">
              <a:buNone/>
            </a:pPr>
            <a:r>
              <a:rPr lang="en-US" b="1" dirty="0">
                <a:latin typeface="Book Antiqua" panose="02040602050305030304" pitchFamily="18" charset="0"/>
              </a:rPr>
              <a:t>Overview of Lighting in OpenGL </a:t>
            </a:r>
          </a:p>
          <a:p>
            <a:pPr marL="0" indent="0">
              <a:buNone/>
            </a:pPr>
            <a:r>
              <a:rPr lang="en-US" dirty="0">
                <a:latin typeface="Book Antiqua" panose="02040602050305030304" pitchFamily="18" charset="0"/>
              </a:rPr>
              <a:t>When you look at a physical surface, your eye's perception of the color depends on the distribution of photon energies that arrive and trigger your cone cells.</a:t>
            </a:r>
          </a:p>
          <a:p>
            <a:pPr marL="0" indent="0">
              <a:buNone/>
            </a:pPr>
            <a:r>
              <a:rPr lang="en-US" dirty="0">
                <a:latin typeface="Book Antiqua" panose="02040602050305030304" pitchFamily="18" charset="0"/>
              </a:rPr>
              <a:t>Those photons come from a light source or combination of sources, some of which are absorbed and some of which are reflected by the surface. </a:t>
            </a:r>
          </a:p>
          <a:p>
            <a:pPr marL="0" indent="0">
              <a:buNone/>
            </a:pPr>
            <a:r>
              <a:rPr lang="en-US" dirty="0">
                <a:latin typeface="Book Antiqua" panose="02040602050305030304" pitchFamily="18" charset="0"/>
              </a:rPr>
              <a:t>In addition, different surfaces may have very different properties - some are </a:t>
            </a:r>
            <a:r>
              <a:rPr lang="en-US" b="1" dirty="0">
                <a:latin typeface="Book Antiqua" panose="02040602050305030304" pitchFamily="18" charset="0"/>
              </a:rPr>
              <a:t>shiny</a:t>
            </a:r>
            <a:r>
              <a:rPr lang="en-US" dirty="0">
                <a:latin typeface="Book Antiqua" panose="02040602050305030304" pitchFamily="18" charset="0"/>
              </a:rPr>
              <a:t> and preferentially reflect light in certain </a:t>
            </a:r>
            <a:r>
              <a:rPr lang="en-US" b="1" dirty="0">
                <a:latin typeface="Book Antiqua" panose="02040602050305030304" pitchFamily="18" charset="0"/>
              </a:rPr>
              <a:t>directions</a:t>
            </a:r>
            <a:r>
              <a:rPr lang="en-US" dirty="0">
                <a:latin typeface="Book Antiqua" panose="02040602050305030304" pitchFamily="18" charset="0"/>
              </a:rPr>
              <a:t>, while others </a:t>
            </a:r>
            <a:r>
              <a:rPr lang="en-US" b="1" dirty="0">
                <a:latin typeface="Book Antiqua" panose="02040602050305030304" pitchFamily="18" charset="0"/>
              </a:rPr>
              <a:t>scatter</a:t>
            </a:r>
            <a:r>
              <a:rPr lang="en-US" dirty="0">
                <a:latin typeface="Book Antiqua" panose="02040602050305030304" pitchFamily="18" charset="0"/>
              </a:rPr>
              <a:t> incoming light equally in all directions. </a:t>
            </a:r>
          </a:p>
          <a:p>
            <a:pPr marL="0" indent="0">
              <a:buNone/>
            </a:pPr>
            <a:r>
              <a:rPr lang="en-US" dirty="0">
                <a:latin typeface="Book Antiqua" panose="02040602050305030304" pitchFamily="18" charset="0"/>
              </a:rPr>
              <a:t>Most surfaces are somewhere in between. </a:t>
            </a:r>
            <a:endParaRPr lang="en-KE" dirty="0">
              <a:latin typeface="Book Antiqua" panose="02040602050305030304" pitchFamily="18" charset="0"/>
            </a:endParaRPr>
          </a:p>
        </p:txBody>
      </p:sp>
    </p:spTree>
    <p:extLst>
      <p:ext uri="{BB962C8B-B14F-4D97-AF65-F5344CB8AC3E}">
        <p14:creationId xmlns:p14="http://schemas.microsoft.com/office/powerpoint/2010/main" val="976845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3F2108-C367-313E-73C5-5D38D4CBBF35}"/>
              </a:ext>
            </a:extLst>
          </p:cNvPr>
          <p:cNvSpPr>
            <a:spLocks noGrp="1"/>
          </p:cNvSpPr>
          <p:nvPr>
            <p:ph idx="1"/>
          </p:nvPr>
        </p:nvSpPr>
        <p:spPr>
          <a:xfrm>
            <a:off x="982133" y="654050"/>
            <a:ext cx="7704667" cy="5345766"/>
          </a:xfrm>
        </p:spPr>
        <p:txBody>
          <a:bodyPr>
            <a:normAutofit fontScale="92500"/>
          </a:bodyPr>
          <a:lstStyle/>
          <a:p>
            <a:r>
              <a:rPr lang="en-US" dirty="0">
                <a:latin typeface="Book Antiqua" panose="02040602050305030304" pitchFamily="18" charset="0"/>
              </a:rPr>
              <a:t>OpenGL approximates light and lighting as if light can be broken into </a:t>
            </a:r>
            <a:r>
              <a:rPr lang="en-US" b="1" dirty="0">
                <a:latin typeface="Book Antiqua" panose="02040602050305030304" pitchFamily="18" charset="0"/>
              </a:rPr>
              <a:t>red</a:t>
            </a:r>
            <a:r>
              <a:rPr lang="en-US" dirty="0">
                <a:latin typeface="Book Antiqua" panose="02040602050305030304" pitchFamily="18" charset="0"/>
              </a:rPr>
              <a:t>, </a:t>
            </a:r>
            <a:r>
              <a:rPr lang="en-US" b="1" dirty="0">
                <a:latin typeface="Book Antiqua" panose="02040602050305030304" pitchFamily="18" charset="0"/>
              </a:rPr>
              <a:t>green</a:t>
            </a:r>
            <a:r>
              <a:rPr lang="en-US" dirty="0">
                <a:latin typeface="Book Antiqua" panose="02040602050305030304" pitchFamily="18" charset="0"/>
              </a:rPr>
              <a:t>, and </a:t>
            </a:r>
            <a:r>
              <a:rPr lang="en-US" b="1" dirty="0">
                <a:latin typeface="Book Antiqua" panose="02040602050305030304" pitchFamily="18" charset="0"/>
              </a:rPr>
              <a:t>blue</a:t>
            </a:r>
            <a:r>
              <a:rPr lang="en-US" dirty="0">
                <a:latin typeface="Book Antiqua" panose="02040602050305030304" pitchFamily="18" charset="0"/>
              </a:rPr>
              <a:t> components.</a:t>
            </a:r>
          </a:p>
          <a:p>
            <a:r>
              <a:rPr lang="en-US" dirty="0">
                <a:latin typeface="Book Antiqua" panose="02040602050305030304" pitchFamily="18" charset="0"/>
              </a:rPr>
              <a:t> Thus, the color of light sources is characterized by the amount of red, green, and blue light they </a:t>
            </a:r>
            <a:r>
              <a:rPr lang="en-US" b="1" dirty="0">
                <a:latin typeface="Book Antiqua" panose="02040602050305030304" pitchFamily="18" charset="0"/>
              </a:rPr>
              <a:t>emit,</a:t>
            </a:r>
            <a:r>
              <a:rPr lang="en-US" dirty="0">
                <a:latin typeface="Book Antiqua" panose="02040602050305030304" pitchFamily="18" charset="0"/>
              </a:rPr>
              <a:t> and the </a:t>
            </a:r>
            <a:r>
              <a:rPr lang="en-US" b="1" dirty="0">
                <a:latin typeface="Book Antiqua" panose="02040602050305030304" pitchFamily="18" charset="0"/>
              </a:rPr>
              <a:t>material of surfaces </a:t>
            </a:r>
            <a:r>
              <a:rPr lang="en-US" dirty="0">
                <a:latin typeface="Book Antiqua" panose="02040602050305030304" pitchFamily="18" charset="0"/>
              </a:rPr>
              <a:t>is characterized by the percentage of the incoming red, green, and blue components that is reflected in various directions.</a:t>
            </a:r>
          </a:p>
          <a:p>
            <a:r>
              <a:rPr lang="en-US" dirty="0">
                <a:latin typeface="Book Antiqua" panose="02040602050305030304" pitchFamily="18" charset="0"/>
              </a:rPr>
              <a:t> The OpenGL lighting equations are just an approximation but one that works fairly well and can be computed relatively quickly.</a:t>
            </a:r>
          </a:p>
          <a:p>
            <a:r>
              <a:rPr lang="en-US" dirty="0">
                <a:latin typeface="Book Antiqua" panose="02040602050305030304" pitchFamily="18" charset="0"/>
              </a:rPr>
              <a:t> If you desire a more accurate (or just different) lighting model, you have to do your own calculations in software. Such software can be enormously complex, as a few hours of reading any optics textbook should convince you. </a:t>
            </a:r>
            <a:endParaRPr lang="en-KE" dirty="0">
              <a:latin typeface="Book Antiqua" panose="02040602050305030304" pitchFamily="18" charset="0"/>
            </a:endParaRPr>
          </a:p>
        </p:txBody>
      </p:sp>
    </p:spTree>
    <p:extLst>
      <p:ext uri="{BB962C8B-B14F-4D97-AF65-F5344CB8AC3E}">
        <p14:creationId xmlns:p14="http://schemas.microsoft.com/office/powerpoint/2010/main" val="2377607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4164A9-A38F-14E5-1E78-51B88AB26049}"/>
              </a:ext>
            </a:extLst>
          </p:cNvPr>
          <p:cNvSpPr>
            <a:spLocks noGrp="1"/>
          </p:cNvSpPr>
          <p:nvPr>
            <p:ph idx="1"/>
          </p:nvPr>
        </p:nvSpPr>
        <p:spPr>
          <a:xfrm>
            <a:off x="982133" y="476250"/>
            <a:ext cx="7704667" cy="5523566"/>
          </a:xfrm>
        </p:spPr>
        <p:txBody>
          <a:bodyPr>
            <a:normAutofit/>
          </a:bodyPr>
          <a:lstStyle/>
          <a:p>
            <a:r>
              <a:rPr lang="en-US" dirty="0">
                <a:latin typeface="Book Antiqua" panose="02040602050305030304" pitchFamily="18" charset="0"/>
              </a:rPr>
              <a:t>In the OpenGL lighting model, the light in a scene comes from several light sources that can be individually turned on and off. </a:t>
            </a:r>
          </a:p>
          <a:p>
            <a:r>
              <a:rPr lang="en-US" dirty="0">
                <a:latin typeface="Book Antiqua" panose="02040602050305030304" pitchFamily="18" charset="0"/>
              </a:rPr>
              <a:t>Some light comes from a particular direction or position, and some light is generally scattered about the scene. </a:t>
            </a:r>
          </a:p>
          <a:p>
            <a:r>
              <a:rPr lang="en-US" dirty="0" err="1">
                <a:latin typeface="Book Antiqua" panose="02040602050305030304" pitchFamily="18" charset="0"/>
              </a:rPr>
              <a:t>E.g</a:t>
            </a:r>
            <a:r>
              <a:rPr lang="en-US" dirty="0">
                <a:latin typeface="Book Antiqua" panose="02040602050305030304" pitchFamily="18" charset="0"/>
              </a:rPr>
              <a:t> when you turn on a light bulb in a room, most of the light comes from the bulb, but some light comes after bouncing off one, two, three, or more walls.</a:t>
            </a:r>
          </a:p>
          <a:p>
            <a:r>
              <a:rPr lang="en-US" dirty="0">
                <a:latin typeface="Book Antiqua" panose="02040602050305030304" pitchFamily="18" charset="0"/>
              </a:rPr>
              <a:t> This bounced light (</a:t>
            </a:r>
            <a:r>
              <a:rPr lang="en-US" b="1" dirty="0">
                <a:latin typeface="Book Antiqua" panose="02040602050305030304" pitchFamily="18" charset="0"/>
              </a:rPr>
              <a:t>ambient</a:t>
            </a:r>
            <a:r>
              <a:rPr lang="en-US" dirty="0">
                <a:latin typeface="Book Antiqua" panose="02040602050305030304" pitchFamily="18" charset="0"/>
              </a:rPr>
              <a:t>) is assumed to be so scattered that there is no way to tell its original direction, but it disappears if a particular light source is turned off. </a:t>
            </a:r>
            <a:endParaRPr lang="en-KE" dirty="0">
              <a:latin typeface="Book Antiqua" panose="02040602050305030304" pitchFamily="18" charset="0"/>
            </a:endParaRPr>
          </a:p>
        </p:txBody>
      </p:sp>
    </p:spTree>
    <p:extLst>
      <p:ext uri="{BB962C8B-B14F-4D97-AF65-F5344CB8AC3E}">
        <p14:creationId xmlns:p14="http://schemas.microsoft.com/office/powerpoint/2010/main" val="2901676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C324EE-E3F9-4BF8-D08A-0E1D9762455A}"/>
              </a:ext>
            </a:extLst>
          </p:cNvPr>
          <p:cNvSpPr>
            <a:spLocks noGrp="1"/>
          </p:cNvSpPr>
          <p:nvPr>
            <p:ph idx="1"/>
          </p:nvPr>
        </p:nvSpPr>
        <p:spPr>
          <a:xfrm>
            <a:off x="982133" y="241300"/>
            <a:ext cx="7704667" cy="6280150"/>
          </a:xfrm>
        </p:spPr>
        <p:txBody>
          <a:bodyPr>
            <a:normAutofit fontScale="92500" lnSpcReduction="10000"/>
          </a:bodyPr>
          <a:lstStyle/>
          <a:p>
            <a:pPr marL="0">
              <a:lnSpc>
                <a:spcPct val="110000"/>
              </a:lnSpc>
              <a:spcBef>
                <a:spcPts val="0"/>
              </a:spcBef>
              <a:spcAft>
                <a:spcPts val="0"/>
              </a:spcAft>
              <a:buNone/>
            </a:pPr>
            <a:r>
              <a:rPr lang="en-US" sz="2600" dirty="0">
                <a:effectLst/>
                <a:latin typeface="Book Antiqua" panose="02040602050305030304" pitchFamily="18" charset="0"/>
                <a:ea typeface="Calibri" panose="020F0502020204030204" pitchFamily="34" charset="0"/>
                <a:cs typeface="Times New Roman" panose="02020603050405020304" pitchFamily="18" charset="0"/>
              </a:rPr>
              <a:t>Finally, there might be </a:t>
            </a:r>
            <a:r>
              <a:rPr lang="en-US" sz="2600" b="1" dirty="0">
                <a:effectLst/>
                <a:latin typeface="Book Antiqua" panose="02040602050305030304" pitchFamily="18" charset="0"/>
                <a:ea typeface="Calibri" panose="020F0502020204030204" pitchFamily="34" charset="0"/>
                <a:cs typeface="Times New Roman" panose="02020603050405020304" pitchFamily="18" charset="0"/>
              </a:rPr>
              <a:t>a general ambient </a:t>
            </a:r>
            <a:r>
              <a:rPr lang="en-US" sz="2600" dirty="0">
                <a:effectLst/>
                <a:latin typeface="Book Antiqua" panose="02040602050305030304" pitchFamily="18" charset="0"/>
                <a:ea typeface="Calibri" panose="020F0502020204030204" pitchFamily="34" charset="0"/>
                <a:cs typeface="Times New Roman" panose="02020603050405020304" pitchFamily="18" charset="0"/>
              </a:rPr>
              <a:t>light in the scene that comes from no particular source, as if it had been scattered so many times that its original source is impossible to determine.</a:t>
            </a:r>
          </a:p>
          <a:p>
            <a:pPr marL="0">
              <a:lnSpc>
                <a:spcPct val="110000"/>
              </a:lnSpc>
              <a:spcBef>
                <a:spcPts val="0"/>
              </a:spcBef>
              <a:spcAft>
                <a:spcPts val="0"/>
              </a:spcAft>
              <a:buNone/>
            </a:pPr>
            <a:r>
              <a:rPr lang="en-US" sz="2600" dirty="0">
                <a:effectLst/>
                <a:latin typeface="Book Antiqua" panose="02040602050305030304" pitchFamily="18" charset="0"/>
                <a:ea typeface="Calibri" panose="020F0502020204030204" pitchFamily="34" charset="0"/>
                <a:cs typeface="Times New Roman" panose="02020603050405020304" pitchFamily="18" charset="0"/>
              </a:rPr>
              <a:t> </a:t>
            </a:r>
          </a:p>
          <a:p>
            <a:pPr marL="0">
              <a:lnSpc>
                <a:spcPct val="110000"/>
              </a:lnSpc>
              <a:spcBef>
                <a:spcPts val="0"/>
              </a:spcBef>
              <a:spcAft>
                <a:spcPts val="0"/>
              </a:spcAft>
              <a:buNone/>
            </a:pPr>
            <a:r>
              <a:rPr lang="en-US" sz="2600" dirty="0">
                <a:effectLst/>
                <a:latin typeface="Book Antiqua" panose="02040602050305030304" pitchFamily="18" charset="0"/>
                <a:ea typeface="Calibri" panose="020F0502020204030204" pitchFamily="34" charset="0"/>
                <a:cs typeface="Times New Roman" panose="02020603050405020304" pitchFamily="18" charset="0"/>
              </a:rPr>
              <a:t>In the OpenGL model, the light sources have an effect only when there are surfaces that absorb and reflect light. </a:t>
            </a:r>
          </a:p>
          <a:p>
            <a:pPr marL="0">
              <a:lnSpc>
                <a:spcPct val="110000"/>
              </a:lnSpc>
              <a:spcBef>
                <a:spcPts val="0"/>
              </a:spcBef>
              <a:spcAft>
                <a:spcPts val="0"/>
              </a:spcAft>
              <a:buNone/>
            </a:pPr>
            <a:r>
              <a:rPr lang="en-US" sz="2600" dirty="0">
                <a:effectLst/>
                <a:latin typeface="Book Antiqua" panose="02040602050305030304" pitchFamily="18" charset="0"/>
                <a:ea typeface="Calibri" panose="020F0502020204030204" pitchFamily="34" charset="0"/>
                <a:cs typeface="Times New Roman" panose="02020603050405020304" pitchFamily="18" charset="0"/>
              </a:rPr>
              <a:t>Each surface is assumed to be composed of a </a:t>
            </a:r>
            <a:r>
              <a:rPr lang="en-US" sz="2600" b="1" dirty="0">
                <a:effectLst/>
                <a:latin typeface="Book Antiqua" panose="02040602050305030304" pitchFamily="18" charset="0"/>
                <a:ea typeface="Calibri" panose="020F0502020204030204" pitchFamily="34" charset="0"/>
                <a:cs typeface="Times New Roman" panose="02020603050405020304" pitchFamily="18" charset="0"/>
              </a:rPr>
              <a:t>materi</a:t>
            </a:r>
            <a:r>
              <a:rPr lang="en-US" sz="2600" dirty="0">
                <a:effectLst/>
                <a:latin typeface="Book Antiqua" panose="02040602050305030304" pitchFamily="18" charset="0"/>
                <a:ea typeface="Calibri" panose="020F0502020204030204" pitchFamily="34" charset="0"/>
                <a:cs typeface="Times New Roman" panose="02020603050405020304" pitchFamily="18" charset="0"/>
              </a:rPr>
              <a:t>al with various properties.</a:t>
            </a:r>
          </a:p>
          <a:p>
            <a:pPr marL="0">
              <a:lnSpc>
                <a:spcPct val="110000"/>
              </a:lnSpc>
              <a:spcBef>
                <a:spcPts val="0"/>
              </a:spcBef>
              <a:spcAft>
                <a:spcPts val="0"/>
              </a:spcAft>
              <a:buNone/>
            </a:pPr>
            <a:endParaRPr lang="en-US" sz="26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pPr>
            <a:r>
              <a:rPr lang="en-US" sz="2600" dirty="0">
                <a:effectLst/>
                <a:latin typeface="Book Antiqua" panose="02040602050305030304" pitchFamily="18" charset="0"/>
                <a:ea typeface="Calibri" panose="020F0502020204030204" pitchFamily="34" charset="0"/>
                <a:cs typeface="Times New Roman" panose="02020603050405020304" pitchFamily="18" charset="0"/>
              </a:rPr>
              <a:t> A </a:t>
            </a:r>
            <a:r>
              <a:rPr lang="en-US" sz="2600" b="1" dirty="0">
                <a:effectLst/>
                <a:latin typeface="Book Antiqua" panose="02040602050305030304" pitchFamily="18" charset="0"/>
                <a:ea typeface="Calibri" panose="020F0502020204030204" pitchFamily="34" charset="0"/>
                <a:cs typeface="Times New Roman" panose="02020603050405020304" pitchFamily="18" charset="0"/>
              </a:rPr>
              <a:t>materia</a:t>
            </a:r>
            <a:r>
              <a:rPr lang="en-US" sz="2600" dirty="0">
                <a:effectLst/>
                <a:latin typeface="Book Antiqua" panose="02040602050305030304" pitchFamily="18" charset="0"/>
                <a:ea typeface="Calibri" panose="020F0502020204030204" pitchFamily="34" charset="0"/>
                <a:cs typeface="Times New Roman" panose="02020603050405020304" pitchFamily="18" charset="0"/>
              </a:rPr>
              <a:t>l might emit its own light (like headlights on an automobile), it might scatter some incoming light in all directions, and it might reflect some portion of the incoming light in a preferential direction like a mirror or other shiny surface</a:t>
            </a:r>
          </a:p>
          <a:p>
            <a:pPr marL="0" indent="0">
              <a:buNone/>
            </a:pPr>
            <a:endParaRPr lang="en-KE" dirty="0"/>
          </a:p>
        </p:txBody>
      </p:sp>
    </p:spTree>
    <p:extLst>
      <p:ext uri="{BB962C8B-B14F-4D97-AF65-F5344CB8AC3E}">
        <p14:creationId xmlns:p14="http://schemas.microsoft.com/office/powerpoint/2010/main" val="1994774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FB0944-48B8-DE31-51FF-157F8305EE93}"/>
              </a:ext>
            </a:extLst>
          </p:cNvPr>
          <p:cNvSpPr>
            <a:spLocks noGrp="1"/>
          </p:cNvSpPr>
          <p:nvPr>
            <p:ph idx="1"/>
          </p:nvPr>
        </p:nvSpPr>
        <p:spPr>
          <a:xfrm>
            <a:off x="982133" y="292100"/>
            <a:ext cx="7958667" cy="5707716"/>
          </a:xfrm>
        </p:spPr>
        <p:txBody>
          <a:bodyPr>
            <a:normAutofit/>
          </a:bodyPr>
          <a:lstStyle/>
          <a:p>
            <a:pPr marL="0" indent="0">
              <a:buNone/>
            </a:pPr>
            <a:endParaRPr lang="en-KE" dirty="0"/>
          </a:p>
          <a:p>
            <a:r>
              <a:rPr lang="en-US" dirty="0">
                <a:latin typeface="Book Antiqua" panose="02040602050305030304" pitchFamily="18" charset="0"/>
              </a:rPr>
              <a:t>The OpenGL lighting model considers the lighting to be divided into four independent components: </a:t>
            </a:r>
            <a:r>
              <a:rPr lang="en-US" b="1" dirty="0">
                <a:latin typeface="Book Antiqua" panose="02040602050305030304" pitchFamily="18" charset="0"/>
              </a:rPr>
              <a:t>emissive, ambient, diffuse, and specular</a:t>
            </a:r>
            <a:r>
              <a:rPr lang="en-US" dirty="0">
                <a:latin typeface="Book Antiqua" panose="02040602050305030304" pitchFamily="18" charset="0"/>
              </a:rPr>
              <a:t>. All four components are computed independently and then added together </a:t>
            </a:r>
            <a:endParaRPr lang="en-KE" dirty="0">
              <a:latin typeface="Book Antiqua" panose="02040602050305030304" pitchFamily="18" charset="0"/>
            </a:endParaRPr>
          </a:p>
          <a:p>
            <a:endParaRPr lang="en-KE" dirty="0"/>
          </a:p>
        </p:txBody>
      </p:sp>
    </p:spTree>
    <p:extLst>
      <p:ext uri="{BB962C8B-B14F-4D97-AF65-F5344CB8AC3E}">
        <p14:creationId xmlns:p14="http://schemas.microsoft.com/office/powerpoint/2010/main" val="2956315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693ABA-EBBB-660B-7163-08BA4CF0BE51}"/>
              </a:ext>
            </a:extLst>
          </p:cNvPr>
          <p:cNvSpPr>
            <a:spLocks noGrp="1"/>
          </p:cNvSpPr>
          <p:nvPr>
            <p:ph idx="1"/>
          </p:nvPr>
        </p:nvSpPr>
        <p:spPr>
          <a:xfrm>
            <a:off x="982133" y="209550"/>
            <a:ext cx="7704667" cy="5790266"/>
          </a:xfrm>
        </p:spPr>
        <p:txBody>
          <a:bodyPr>
            <a:normAutofit/>
          </a:bodyPr>
          <a:lstStyle/>
          <a:p>
            <a:pPr marL="0" indent="0">
              <a:buNone/>
            </a:pPr>
            <a:r>
              <a:rPr lang="en-US" sz="2600" b="1" dirty="0">
                <a:latin typeface="Book Antiqua" panose="02040602050305030304" pitchFamily="18" charset="0"/>
              </a:rPr>
              <a:t>Ambient, Diffuse, and Specular Light</a:t>
            </a:r>
          </a:p>
          <a:p>
            <a:r>
              <a:rPr lang="en-US" b="1" dirty="0">
                <a:latin typeface="Book Antiqua" panose="02040602050305030304" pitchFamily="18" charset="0"/>
              </a:rPr>
              <a:t>Ambient</a:t>
            </a:r>
            <a:r>
              <a:rPr lang="en-US" dirty="0">
                <a:latin typeface="Book Antiqua" panose="02040602050305030304" pitchFamily="18" charset="0"/>
              </a:rPr>
              <a:t> illumination is light that's been scattered so much by the environment that its direction is impossible to determine - it seems to come from all directions.</a:t>
            </a:r>
          </a:p>
          <a:p>
            <a:r>
              <a:rPr lang="en-US" dirty="0">
                <a:latin typeface="Book Antiqua" panose="02040602050305030304" pitchFamily="18" charset="0"/>
              </a:rPr>
              <a:t>Backlighting in a room has a large ambient component, since most of the light that reaches your eye has first bounced off many surfaces. A spotlight outdoors has a tiny ambient component; most of the light travels in the same direction, and since you're outdoors, very little of the light reaches your eye after bouncing off other objects. </a:t>
            </a:r>
          </a:p>
          <a:p>
            <a:r>
              <a:rPr lang="en-US" dirty="0">
                <a:latin typeface="Book Antiqua" panose="02040602050305030304" pitchFamily="18" charset="0"/>
              </a:rPr>
              <a:t>When ambient light strikes a surface, it's scattered equally in all directions. </a:t>
            </a:r>
          </a:p>
          <a:p>
            <a:endParaRPr lang="en-KE" dirty="0"/>
          </a:p>
        </p:txBody>
      </p:sp>
    </p:spTree>
    <p:extLst>
      <p:ext uri="{BB962C8B-B14F-4D97-AF65-F5344CB8AC3E}">
        <p14:creationId xmlns:p14="http://schemas.microsoft.com/office/powerpoint/2010/main" val="669425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7B35D5-1D26-8EB6-29EE-825F4BB2BE81}"/>
              </a:ext>
            </a:extLst>
          </p:cNvPr>
          <p:cNvSpPr>
            <a:spLocks noGrp="1"/>
          </p:cNvSpPr>
          <p:nvPr>
            <p:ph idx="1"/>
          </p:nvPr>
        </p:nvSpPr>
        <p:spPr>
          <a:xfrm>
            <a:off x="982133" y="361950"/>
            <a:ext cx="7704667" cy="5637866"/>
          </a:xfrm>
        </p:spPr>
        <p:txBody>
          <a:bodyPr/>
          <a:lstStyle/>
          <a:p>
            <a:r>
              <a:rPr lang="en-US" dirty="0">
                <a:latin typeface="Book Antiqua" panose="02040602050305030304" pitchFamily="18" charset="0"/>
              </a:rPr>
              <a:t>The </a:t>
            </a:r>
            <a:r>
              <a:rPr lang="en-US" b="1" dirty="0">
                <a:latin typeface="Book Antiqua" panose="02040602050305030304" pitchFamily="18" charset="0"/>
              </a:rPr>
              <a:t>diffuse </a:t>
            </a:r>
            <a:r>
              <a:rPr lang="en-US" dirty="0">
                <a:latin typeface="Book Antiqua" panose="02040602050305030304" pitchFamily="18" charset="0"/>
              </a:rPr>
              <a:t>component is the light that comes from one direction, so it's brighter if it comes squarely down on a surface than if it barely glances off the surface. </a:t>
            </a:r>
          </a:p>
          <a:p>
            <a:r>
              <a:rPr lang="en-US" dirty="0">
                <a:latin typeface="Book Antiqua" panose="02040602050305030304" pitchFamily="18" charset="0"/>
              </a:rPr>
              <a:t>Once it hits a surface, however, it's scattered equally in all directions, so it appears equally bright, no matter where the eye is located. </a:t>
            </a:r>
          </a:p>
          <a:p>
            <a:r>
              <a:rPr lang="en-US" dirty="0">
                <a:latin typeface="Book Antiqua" panose="02040602050305030304" pitchFamily="18" charset="0"/>
              </a:rPr>
              <a:t>Any light coming from a particular position or direction probably has a diffuse component. </a:t>
            </a:r>
          </a:p>
          <a:p>
            <a:endParaRPr lang="en-KE" dirty="0"/>
          </a:p>
        </p:txBody>
      </p:sp>
    </p:spTree>
    <p:extLst>
      <p:ext uri="{BB962C8B-B14F-4D97-AF65-F5344CB8AC3E}">
        <p14:creationId xmlns:p14="http://schemas.microsoft.com/office/powerpoint/2010/main" val="3148512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24C882-FFAC-6694-6F35-B4C7871C168E}"/>
              </a:ext>
            </a:extLst>
          </p:cNvPr>
          <p:cNvSpPr>
            <a:spLocks noGrp="1"/>
          </p:cNvSpPr>
          <p:nvPr>
            <p:ph idx="1"/>
          </p:nvPr>
        </p:nvSpPr>
        <p:spPr>
          <a:xfrm>
            <a:off x="982133" y="292100"/>
            <a:ext cx="7704667" cy="5707716"/>
          </a:xfrm>
        </p:spPr>
        <p:txBody>
          <a:bodyPr>
            <a:normAutofit fontScale="92500" lnSpcReduction="10000"/>
          </a:bodyPr>
          <a:lstStyle/>
          <a:p>
            <a:r>
              <a:rPr lang="en-US" dirty="0">
                <a:latin typeface="Book Antiqua" panose="02040602050305030304" pitchFamily="18" charset="0"/>
              </a:rPr>
              <a:t>Finally, </a:t>
            </a:r>
            <a:r>
              <a:rPr lang="en-US" b="1" dirty="0">
                <a:latin typeface="Book Antiqua" panose="02040602050305030304" pitchFamily="18" charset="0"/>
              </a:rPr>
              <a:t>specular</a:t>
            </a:r>
            <a:r>
              <a:rPr lang="en-US" dirty="0">
                <a:latin typeface="Book Antiqua" panose="02040602050305030304" pitchFamily="18" charset="0"/>
              </a:rPr>
              <a:t> light comes from a particular direction, and it tends to bounce off the surface in a preferred direction. </a:t>
            </a:r>
          </a:p>
          <a:p>
            <a:r>
              <a:rPr lang="en-US" dirty="0">
                <a:latin typeface="Book Antiqua" panose="02040602050305030304" pitchFamily="18" charset="0"/>
              </a:rPr>
              <a:t>A well-collimated laser beam bouncing off a high-quality mirror produces almost 100 percent specular reflection. Shiny metal or plastic has a high specular component, and chalk or carpet has almost none. You can think of </a:t>
            </a:r>
            <a:r>
              <a:rPr lang="en-US" dirty="0" err="1">
                <a:latin typeface="Book Antiqua" panose="02040602050305030304" pitchFamily="18" charset="0"/>
              </a:rPr>
              <a:t>specularity</a:t>
            </a:r>
            <a:r>
              <a:rPr lang="en-US" dirty="0">
                <a:latin typeface="Book Antiqua" panose="02040602050305030304" pitchFamily="18" charset="0"/>
              </a:rPr>
              <a:t> as shininess. </a:t>
            </a:r>
          </a:p>
          <a:p>
            <a:r>
              <a:rPr lang="en-US" dirty="0">
                <a:latin typeface="Book Antiqua" panose="02040602050305030304" pitchFamily="18" charset="0"/>
              </a:rPr>
              <a:t>Although a light source delivers a single distribution of frequencies, the ambient, diffuse, and specular components might be different.</a:t>
            </a:r>
          </a:p>
          <a:p>
            <a:r>
              <a:rPr lang="en-US" dirty="0" err="1">
                <a:latin typeface="Book Antiqua" panose="02040602050305030304" pitchFamily="18" charset="0"/>
              </a:rPr>
              <a:t>E.g</a:t>
            </a:r>
            <a:r>
              <a:rPr lang="en-US" dirty="0">
                <a:latin typeface="Book Antiqua" panose="02040602050305030304" pitchFamily="18" charset="0"/>
              </a:rPr>
              <a:t>, if you have a white light in a room with red walls, the scattered light tends to be red, although the light directly striking objects is white.</a:t>
            </a:r>
          </a:p>
          <a:p>
            <a:r>
              <a:rPr lang="en-US" dirty="0">
                <a:latin typeface="Book Antiqua" panose="02040602050305030304" pitchFamily="18" charset="0"/>
              </a:rPr>
              <a:t> OpenGL allows you to set the red, green, and blue values for each component of light independently</a:t>
            </a:r>
          </a:p>
          <a:p>
            <a:endParaRPr lang="en-KE" dirty="0"/>
          </a:p>
        </p:txBody>
      </p:sp>
    </p:spTree>
    <p:extLst>
      <p:ext uri="{BB962C8B-B14F-4D97-AF65-F5344CB8AC3E}">
        <p14:creationId xmlns:p14="http://schemas.microsoft.com/office/powerpoint/2010/main" val="2108837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ADAEA0-B7E9-B69C-1137-F0DE9018DBF6}"/>
              </a:ext>
            </a:extLst>
          </p:cNvPr>
          <p:cNvSpPr>
            <a:spLocks noGrp="1"/>
          </p:cNvSpPr>
          <p:nvPr>
            <p:ph idx="1"/>
          </p:nvPr>
        </p:nvSpPr>
        <p:spPr>
          <a:xfrm>
            <a:off x="982133" y="368300"/>
            <a:ext cx="7704667" cy="5631516"/>
          </a:xfrm>
        </p:spPr>
        <p:txBody>
          <a:bodyPr>
            <a:normAutofit fontScale="92500"/>
          </a:bodyPr>
          <a:lstStyle/>
          <a:p>
            <a:pPr marL="0" indent="0">
              <a:buNone/>
            </a:pPr>
            <a:r>
              <a:rPr lang="en-US" b="1" dirty="0">
                <a:latin typeface="Book Antiqua" panose="02040602050305030304" pitchFamily="18" charset="0"/>
              </a:rPr>
              <a:t>Material Colors</a:t>
            </a:r>
          </a:p>
          <a:p>
            <a:r>
              <a:rPr lang="en-US" dirty="0">
                <a:latin typeface="Book Antiqua" panose="02040602050305030304" pitchFamily="18" charset="0"/>
              </a:rPr>
              <a:t>The OpenGL lighting model makes the approximation that a material's color depends on the percentages of the incoming red, green, and blue light it reflects. </a:t>
            </a:r>
          </a:p>
          <a:p>
            <a:r>
              <a:rPr lang="en-US" dirty="0">
                <a:latin typeface="Book Antiqua" panose="02040602050305030304" pitchFamily="18" charset="0"/>
              </a:rPr>
              <a:t>Eg, a perfectly red ball reflects all the incoming red light and absorbs all the green and blue light that strikes it. </a:t>
            </a:r>
          </a:p>
          <a:p>
            <a:r>
              <a:rPr lang="en-US" dirty="0">
                <a:latin typeface="Book Antiqua" panose="02040602050305030304" pitchFamily="18" charset="0"/>
              </a:rPr>
              <a:t>If you view such a ball in white light (composed of equal amounts of red, green, and blue light), all the red is reflected, and you see a red ball. </a:t>
            </a:r>
          </a:p>
          <a:p>
            <a:r>
              <a:rPr lang="en-US" dirty="0">
                <a:latin typeface="Book Antiqua" panose="02040602050305030304" pitchFamily="18" charset="0"/>
              </a:rPr>
              <a:t>If the ball is viewed in pure red light, it also appears to be red. If, however, the red ball is viewed in pure green light, it appears black (all the green is absorbed, and there's no incoming red, so no light is reflected). </a:t>
            </a:r>
            <a:endParaRPr lang="en-KE" dirty="0">
              <a:latin typeface="Book Antiqua" panose="02040602050305030304" pitchFamily="18" charset="0"/>
            </a:endParaRPr>
          </a:p>
        </p:txBody>
      </p:sp>
    </p:spTree>
    <p:extLst>
      <p:ext uri="{BB962C8B-B14F-4D97-AF65-F5344CB8AC3E}">
        <p14:creationId xmlns:p14="http://schemas.microsoft.com/office/powerpoint/2010/main" val="2909466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0E73CF-CDCC-84E4-1F43-AB109F074C43}"/>
              </a:ext>
            </a:extLst>
          </p:cNvPr>
          <p:cNvSpPr>
            <a:spLocks noGrp="1"/>
          </p:cNvSpPr>
          <p:nvPr>
            <p:ph idx="1"/>
          </p:nvPr>
        </p:nvSpPr>
        <p:spPr>
          <a:xfrm>
            <a:off x="982133" y="266700"/>
            <a:ext cx="7704667" cy="5733116"/>
          </a:xfrm>
        </p:spPr>
        <p:txBody>
          <a:bodyPr>
            <a:normAutofit fontScale="92500"/>
          </a:bodyPr>
          <a:lstStyle/>
          <a:p>
            <a:r>
              <a:rPr lang="en-US" dirty="0">
                <a:latin typeface="Book Antiqua" panose="02040602050305030304" pitchFamily="18" charset="0"/>
              </a:rPr>
              <a:t>Like lights, materials have different ambient, diffuse, and specular colors, which determine the ambient, diffuse, and specular </a:t>
            </a:r>
            <a:r>
              <a:rPr lang="en-US" dirty="0" err="1">
                <a:latin typeface="Book Antiqua" panose="02040602050305030304" pitchFamily="18" charset="0"/>
              </a:rPr>
              <a:t>reflectances</a:t>
            </a:r>
            <a:r>
              <a:rPr lang="en-US" dirty="0">
                <a:latin typeface="Book Antiqua" panose="02040602050305030304" pitchFamily="18" charset="0"/>
              </a:rPr>
              <a:t> of the material. </a:t>
            </a:r>
          </a:p>
          <a:p>
            <a:r>
              <a:rPr lang="en-US" dirty="0">
                <a:latin typeface="Book Antiqua" panose="02040602050305030304" pitchFamily="18" charset="0"/>
              </a:rPr>
              <a:t>A material's ambient reflectance is combined with the ambient component of each incoming light source, the diffuse reflectance with the light's diffuse component, and similarly for the specular reflectance and component. </a:t>
            </a:r>
          </a:p>
          <a:p>
            <a:r>
              <a:rPr lang="en-US" dirty="0">
                <a:latin typeface="Book Antiqua" panose="02040602050305030304" pitchFamily="18" charset="0"/>
              </a:rPr>
              <a:t>Ambient and diffuse </a:t>
            </a:r>
            <a:r>
              <a:rPr lang="en-US" dirty="0" err="1">
                <a:latin typeface="Book Antiqua" panose="02040602050305030304" pitchFamily="18" charset="0"/>
              </a:rPr>
              <a:t>reflectances</a:t>
            </a:r>
            <a:r>
              <a:rPr lang="en-US" dirty="0">
                <a:latin typeface="Book Antiqua" panose="02040602050305030304" pitchFamily="18" charset="0"/>
              </a:rPr>
              <a:t> define the color of the material and are typically similar if not identical. </a:t>
            </a:r>
          </a:p>
          <a:p>
            <a:r>
              <a:rPr lang="en-US" dirty="0">
                <a:latin typeface="Book Antiqua" panose="02040602050305030304" pitchFamily="18" charset="0"/>
              </a:rPr>
              <a:t>Specular reflectance is usually white or gray, so that specular highlights end up being the color of the light source's specular intensity. If you think of a white light shining on a shiny red plastic sphere, most of the sphere appears red, but the shiny highlight is white</a:t>
            </a:r>
            <a:r>
              <a:rPr lang="en-US" dirty="0"/>
              <a:t>. </a:t>
            </a:r>
            <a:endParaRPr lang="en-KE" dirty="0"/>
          </a:p>
        </p:txBody>
      </p:sp>
    </p:spTree>
    <p:extLst>
      <p:ext uri="{BB962C8B-B14F-4D97-AF65-F5344CB8AC3E}">
        <p14:creationId xmlns:p14="http://schemas.microsoft.com/office/powerpoint/2010/main" val="344390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1781C2-F786-AC9C-9F57-5F21AB1C7B96}"/>
              </a:ext>
            </a:extLst>
          </p:cNvPr>
          <p:cNvSpPr>
            <a:spLocks noGrp="1"/>
          </p:cNvSpPr>
          <p:nvPr>
            <p:ph idx="1"/>
          </p:nvPr>
        </p:nvSpPr>
        <p:spPr>
          <a:xfrm>
            <a:off x="982133" y="355600"/>
            <a:ext cx="7704667" cy="5644216"/>
          </a:xfrm>
        </p:spPr>
        <p:txBody>
          <a:bodyPr>
            <a:normAutofit fontScale="92500" lnSpcReduction="10000"/>
          </a:bodyPr>
          <a:lstStyle/>
          <a:p>
            <a:r>
              <a:rPr lang="en-US" dirty="0">
                <a:latin typeface="Book Antiqua" panose="02040602050305030304" pitchFamily="18" charset="0"/>
              </a:rPr>
              <a:t>In addition to ambient, diffuse, and specular colors, materials have an </a:t>
            </a:r>
            <a:r>
              <a:rPr lang="en-US" i="1" dirty="0">
                <a:latin typeface="Book Antiqua" panose="02040602050305030304" pitchFamily="18" charset="0"/>
              </a:rPr>
              <a:t>emissive</a:t>
            </a:r>
            <a:r>
              <a:rPr lang="en-US" dirty="0">
                <a:latin typeface="Book Antiqua" panose="02040602050305030304" pitchFamily="18" charset="0"/>
              </a:rPr>
              <a:t> color, which simulates light originating from an object. In the OpenGL lighting model, the emissive color of a surface adds intensity to the object, but is unaffected by any light sources. Also, the emissive color does not introduce any additional light into the overall scene</a:t>
            </a:r>
          </a:p>
          <a:p>
            <a:pPr marL="0" indent="0">
              <a:buNone/>
            </a:pPr>
            <a:r>
              <a:rPr lang="en-US" b="1" dirty="0">
                <a:latin typeface="Book Antiqua" panose="02040602050305030304" pitchFamily="18" charset="0"/>
              </a:rPr>
              <a:t>RGB Values for Lights and Materials</a:t>
            </a:r>
          </a:p>
          <a:p>
            <a:r>
              <a:rPr lang="en-US" dirty="0">
                <a:latin typeface="Book Antiqua" panose="02040602050305030304" pitchFamily="18" charset="0"/>
              </a:rPr>
              <a:t>The color components specified for lights mean something different than for materials. </a:t>
            </a:r>
          </a:p>
          <a:p>
            <a:r>
              <a:rPr lang="en-US" dirty="0">
                <a:latin typeface="Book Antiqua" panose="02040602050305030304" pitchFamily="18" charset="0"/>
              </a:rPr>
              <a:t>For a light, the numbers correspond to a percentage of full intensity for each color. If the R, G, and B values for a light's color are all 1.0, the light is the brightest possible white. If the values are 0.5, the color is still white, but only at half intensity, so it appears gray. If R=G=1 and B=0 (full red and green with no blue), the light appears yellow. </a:t>
            </a:r>
          </a:p>
          <a:p>
            <a:endParaRPr lang="en-KE" dirty="0">
              <a:latin typeface="Book Antiqua" panose="02040602050305030304" pitchFamily="18" charset="0"/>
            </a:endParaRPr>
          </a:p>
        </p:txBody>
      </p:sp>
    </p:spTree>
    <p:extLst>
      <p:ext uri="{BB962C8B-B14F-4D97-AF65-F5344CB8AC3E}">
        <p14:creationId xmlns:p14="http://schemas.microsoft.com/office/powerpoint/2010/main" val="4011499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ED8CE-EFD0-1EC1-EFDE-553EF4B4FC3A}"/>
              </a:ext>
            </a:extLst>
          </p:cNvPr>
          <p:cNvSpPr>
            <a:spLocks noGrp="1"/>
          </p:cNvSpPr>
          <p:nvPr>
            <p:ph idx="1"/>
          </p:nvPr>
        </p:nvSpPr>
        <p:spPr>
          <a:xfrm>
            <a:off x="982133" y="254000"/>
            <a:ext cx="7704667" cy="5745816"/>
          </a:xfrm>
        </p:spPr>
        <p:txBody>
          <a:bodyPr>
            <a:normAutofit fontScale="92500"/>
          </a:bodyPr>
          <a:lstStyle/>
          <a:p>
            <a:r>
              <a:rPr lang="en-US" dirty="0">
                <a:latin typeface="Book Antiqua" panose="02040602050305030304" pitchFamily="18" charset="0"/>
              </a:rPr>
              <a:t>For materials, the numbers correspond to the reflected proportions of those colors.</a:t>
            </a:r>
          </a:p>
          <a:p>
            <a:r>
              <a:rPr lang="en-US" dirty="0">
                <a:latin typeface="Book Antiqua" panose="02040602050305030304" pitchFamily="18" charset="0"/>
              </a:rPr>
              <a:t> So if R=1, G=0.5, and B=0 for a material, that material reflects all the incoming red light, half the incoming green, and none of the incoming blue light.</a:t>
            </a:r>
          </a:p>
          <a:p>
            <a:r>
              <a:rPr lang="en-US" dirty="0">
                <a:latin typeface="Book Antiqua" panose="02040602050305030304" pitchFamily="18" charset="0"/>
              </a:rPr>
              <a:t> In other words, if an OpenGL light has components (LR, LG, LB), and a material has corresponding components (MR, MG, MB), then, ignoring all other reflectivity effects, the light that arrives at the eye is given by (LR*MR, LG*MG, LB*MB). </a:t>
            </a:r>
          </a:p>
          <a:p>
            <a:r>
              <a:rPr lang="en-US" dirty="0">
                <a:latin typeface="Book Antiqua" panose="02040602050305030304" pitchFamily="18" charset="0"/>
              </a:rPr>
              <a:t>Similarly, if you have two lights that send (R1, G1, B1) and (R2, G2, B2) to the eye, OpenGL adds the components, giving (R1+R2, G1+G2, B1+B2). If any of the sums are greater than 1 (corresponding to a color brighter than the equipment can display), the component is clamped to 1. </a:t>
            </a:r>
            <a:endParaRPr lang="en-KE" dirty="0">
              <a:latin typeface="Book Antiqua" panose="02040602050305030304" pitchFamily="18" charset="0"/>
            </a:endParaRPr>
          </a:p>
        </p:txBody>
      </p:sp>
    </p:spTree>
    <p:extLst>
      <p:ext uri="{BB962C8B-B14F-4D97-AF65-F5344CB8AC3E}">
        <p14:creationId xmlns:p14="http://schemas.microsoft.com/office/powerpoint/2010/main" val="531154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A061B-D54F-21FB-D767-ACFD439AF893}"/>
              </a:ext>
            </a:extLst>
          </p:cNvPr>
          <p:cNvSpPr>
            <a:spLocks noGrp="1"/>
          </p:cNvSpPr>
          <p:nvPr>
            <p:ph idx="1"/>
          </p:nvPr>
        </p:nvSpPr>
        <p:spPr>
          <a:xfrm>
            <a:off x="982133" y="190500"/>
            <a:ext cx="7704667" cy="5809316"/>
          </a:xfrm>
        </p:spPr>
        <p:txBody>
          <a:bodyPr/>
          <a:lstStyle/>
          <a:p>
            <a:pPr marL="0" indent="0">
              <a:buNone/>
            </a:pPr>
            <a:r>
              <a:rPr lang="en-US" dirty="0">
                <a:latin typeface="Book Antiqua" panose="02040602050305030304" pitchFamily="18" charset="0"/>
              </a:rPr>
              <a:t>These are the steps required to add lighting to your scene. </a:t>
            </a:r>
          </a:p>
          <a:p>
            <a:r>
              <a:rPr lang="en-US" dirty="0">
                <a:latin typeface="Book Antiqua" panose="02040602050305030304" pitchFamily="18" charset="0"/>
              </a:rPr>
              <a:t>Define normal vectors for each vertex of all the objects. These </a:t>
            </a:r>
            <a:r>
              <a:rPr lang="en-US" dirty="0" err="1">
                <a:latin typeface="Book Antiqua" panose="02040602050305030304" pitchFamily="18" charset="0"/>
              </a:rPr>
              <a:t>normals</a:t>
            </a:r>
            <a:r>
              <a:rPr lang="en-US" dirty="0">
                <a:latin typeface="Book Antiqua" panose="02040602050305030304" pitchFamily="18" charset="0"/>
              </a:rPr>
              <a:t> determine the orientation of the object relative to the light sources.</a:t>
            </a:r>
          </a:p>
          <a:p>
            <a:r>
              <a:rPr lang="en-US" dirty="0">
                <a:latin typeface="Book Antiqua" panose="02040602050305030304" pitchFamily="18" charset="0"/>
              </a:rPr>
              <a:t>Create, select, and position one or more light sources.</a:t>
            </a:r>
          </a:p>
          <a:p>
            <a:r>
              <a:rPr lang="en-US" dirty="0">
                <a:latin typeface="Book Antiqua" panose="02040602050305030304" pitchFamily="18" charset="0"/>
              </a:rPr>
              <a:t>Create and select a lighting model, which defines the level of global ambient light and the effective location of the viewpoint (for the purposes of lighting calculations).</a:t>
            </a:r>
          </a:p>
          <a:p>
            <a:r>
              <a:rPr lang="en-US" dirty="0">
                <a:latin typeface="Book Antiqua" panose="02040602050305030304" pitchFamily="18" charset="0"/>
              </a:rPr>
              <a:t>Define material properties for the objects in the scene.</a:t>
            </a:r>
          </a:p>
          <a:p>
            <a:endParaRPr lang="en-KE" dirty="0"/>
          </a:p>
        </p:txBody>
      </p:sp>
    </p:spTree>
    <p:extLst>
      <p:ext uri="{BB962C8B-B14F-4D97-AF65-F5344CB8AC3E}">
        <p14:creationId xmlns:p14="http://schemas.microsoft.com/office/powerpoint/2010/main" val="2747023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B6C54-9737-9D97-F2DB-3AC8D2505B7C}"/>
              </a:ext>
            </a:extLst>
          </p:cNvPr>
          <p:cNvSpPr>
            <a:spLocks noGrp="1"/>
          </p:cNvSpPr>
          <p:nvPr>
            <p:ph idx="1"/>
          </p:nvPr>
        </p:nvSpPr>
        <p:spPr>
          <a:xfrm>
            <a:off x="982133" y="323850"/>
            <a:ext cx="7704667" cy="5675966"/>
          </a:xfrm>
        </p:spPr>
        <p:txBody>
          <a:bodyPr>
            <a:normAutofit fontScale="92500" lnSpcReduction="10000"/>
          </a:bodyPr>
          <a:lstStyle/>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#include &lt;GL/</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gl.h</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&gt;</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#include &lt;GL/</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glu.h</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&gt;</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#include &lt;GL/</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glut.h</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&gt;</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void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init</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(void) {</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mat_specular</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 { 1.0, 1.0, 1.0, 1.0 };</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mat_shininess</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 { 50.0 };</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light_position</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 { 1.0, 1.0, 1.0, 0.0 };</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glClearColor</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(0.0, 0.0, 0.0, 0.0);</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glShadeModel</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(GL_SMOOTH);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glMaterialfv</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(GL_FRONT,   </a:t>
            </a: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GL_SPECULAR,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mat_specular</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a:t>
            </a: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glMaterialfv</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(GL_FRONT, GL_SHININESS,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mat_shininess</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a:t>
            </a: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glLightfv</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(GL_LIGHT0, GL_POSITION,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light_position</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a:t>
            </a: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glEnable</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(GL_LIGHTING);</a:t>
            </a: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glEnable</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(GL_LIGHT0);</a:t>
            </a: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glEnable</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(GL_DEPTH_TEST);</a:t>
            </a:r>
          </a:p>
          <a:p>
            <a:pPr marL="0">
              <a:lnSpc>
                <a:spcPct val="11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3874930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FA8DD-FFC6-3CF9-C240-5F16DA036F88}"/>
              </a:ext>
            </a:extLst>
          </p:cNvPr>
          <p:cNvSpPr>
            <a:spLocks noGrp="1"/>
          </p:cNvSpPr>
          <p:nvPr>
            <p:ph idx="1"/>
          </p:nvPr>
        </p:nvSpPr>
        <p:spPr>
          <a:xfrm>
            <a:off x="982133" y="196850"/>
            <a:ext cx="7704667" cy="6223000"/>
          </a:xfrm>
        </p:spPr>
        <p:txBody>
          <a:bodyPr>
            <a:normAutofit fontScale="70000" lnSpcReduction="20000"/>
          </a:bodyPr>
          <a:lstStyle/>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void display(void)</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glClear</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(GL_COLOR_BUFFER_BIT | GL_DEPTH_BUFFER_BIT);</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glutSolidSphere</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(1.0, 20, 16);</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glFlush</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void reshape (int w, int h){</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glViewport</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(0, 0,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GLsizei</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w,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GLsizei</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h);</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glMatrixMode</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(GL_PROJECTION);</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glLoadIdentity</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if (w &lt;= h)</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glOrtho</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(-1.5, 1.5, -1.5*(</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)h/(</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)w,</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1.5*(</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)h/(</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)w, -10.0, 10.0);</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else</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glOrtho</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(-1.5*(</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)w/(</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)h,</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1.5*(</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)w/(</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GLfloat</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)h, -1.5, 1.5, -10.0, 10.0);</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glMatrixMode</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(GL_MODELVIEW);</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900" dirty="0" err="1">
                <a:effectLst/>
                <a:latin typeface="Book Antiqua" panose="02040602050305030304" pitchFamily="18" charset="0"/>
                <a:ea typeface="Times New Roman" panose="02020603050405020304" pitchFamily="18" charset="0"/>
                <a:cs typeface="Times New Roman" panose="02020603050405020304" pitchFamily="18" charset="0"/>
              </a:rPr>
              <a:t>glLoadIdentity</a:t>
            </a: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900" dirty="0">
                <a:effectLst/>
                <a:latin typeface="Book Antiqua" panose="02040602050305030304" pitchFamily="18" charset="0"/>
                <a:ea typeface="Times New Roman" panose="02020603050405020304" pitchFamily="18" charset="0"/>
                <a:cs typeface="Times New Roman" panose="02020603050405020304" pitchFamily="18" charset="0"/>
              </a:rPr>
              <a:t>}</a:t>
            </a:r>
            <a:endParaRPr lang="en-KE" sz="2900" dirty="0">
              <a:effectLst/>
              <a:latin typeface="Book Antiqua" panose="02040602050305030304" pitchFamily="18"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2645701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560902-F470-49FF-D027-B95760CDAD0D}"/>
              </a:ext>
            </a:extLst>
          </p:cNvPr>
          <p:cNvSpPr>
            <a:spLocks noGrp="1"/>
          </p:cNvSpPr>
          <p:nvPr>
            <p:ph idx="1"/>
          </p:nvPr>
        </p:nvSpPr>
        <p:spPr>
          <a:xfrm>
            <a:off x="982133" y="133350"/>
            <a:ext cx="7704667" cy="5866466"/>
          </a:xfrm>
        </p:spPr>
        <p:txBody>
          <a:bodyPr>
            <a:normAutofit/>
          </a:bodyPr>
          <a:lstStyle/>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int main(int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argc</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char**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argv</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glutInit</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(&amp;</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argc</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argv</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glutInitDisplayMode</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(GLUT_SINGLE |   </a:t>
            </a: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GLUT_RGB | GLUT_DEPTH);</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glutInitWindowSize</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(500, 500); </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000" dirty="0" err="1">
                <a:effectLst/>
                <a:latin typeface="Book Antiqua" panose="02040602050305030304" pitchFamily="18" charset="0"/>
                <a:ea typeface="Times New Roman" panose="02020603050405020304" pitchFamily="18" charset="0"/>
                <a:cs typeface="Times New Roman" panose="02020603050405020304" pitchFamily="18" charset="0"/>
              </a:rPr>
              <a:t>glutInitWindowPosition</a:t>
            </a:r>
            <a:r>
              <a:rPr lang="en-US" sz="2000" dirty="0">
                <a:effectLst/>
                <a:latin typeface="Book Antiqua" panose="02040602050305030304" pitchFamily="18" charset="0"/>
                <a:ea typeface="Times New Roman" panose="02020603050405020304" pitchFamily="18" charset="0"/>
                <a:cs typeface="Times New Roman" panose="02020603050405020304" pitchFamily="18" charset="0"/>
              </a:rPr>
              <a:t> (100, 100);</a:t>
            </a:r>
            <a:endParaRPr lang="en-KE" sz="20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000" dirty="0" err="1">
                <a:effectLst/>
                <a:latin typeface="Book Antiqua" panose="02040602050305030304" pitchFamily="18" charset="0"/>
                <a:ea typeface="Times New Roman" panose="02020603050405020304" pitchFamily="18" charset="0"/>
                <a:cs typeface="Times New Roman" panose="02020603050405020304" pitchFamily="18" charset="0"/>
              </a:rPr>
              <a:t>glutCreateWindow</a:t>
            </a:r>
            <a:r>
              <a:rPr lang="en-US" sz="20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argv</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[0]);</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init</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glutDisplayFunc</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(display); </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glutReshapeFunc</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(reshape);</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a:t>
            </a:r>
            <a:r>
              <a:rPr lang="en-US" sz="2200" dirty="0" err="1">
                <a:effectLst/>
                <a:latin typeface="Book Antiqua" panose="02040602050305030304" pitchFamily="18" charset="0"/>
                <a:ea typeface="Times New Roman" panose="02020603050405020304" pitchFamily="18" charset="0"/>
                <a:cs typeface="Times New Roman" panose="02020603050405020304" pitchFamily="18" charset="0"/>
              </a:rPr>
              <a:t>glutMainLoop</a:t>
            </a: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   return 0;</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pPr marL="0">
              <a:lnSpc>
                <a:spcPct val="12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200" dirty="0">
                <a:effectLst/>
                <a:latin typeface="Book Antiqua" panose="02040602050305030304" pitchFamily="18" charset="0"/>
                <a:ea typeface="Times New Roman" panose="02020603050405020304" pitchFamily="18" charset="0"/>
                <a:cs typeface="Times New Roman" panose="02020603050405020304" pitchFamily="18" charset="0"/>
              </a:rPr>
              <a:t>}</a:t>
            </a:r>
            <a:endParaRPr lang="en-KE" sz="2200" dirty="0">
              <a:effectLst/>
              <a:latin typeface="Book Antiqua" panose="02040602050305030304" pitchFamily="18"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434349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510C80-690A-3C39-8D4F-90ED91C2F665}"/>
              </a:ext>
            </a:extLst>
          </p:cNvPr>
          <p:cNvSpPr>
            <a:spLocks noGrp="1"/>
          </p:cNvSpPr>
          <p:nvPr>
            <p:ph idx="1"/>
          </p:nvPr>
        </p:nvSpPr>
        <p:spPr>
          <a:xfrm>
            <a:off x="982133" y="266700"/>
            <a:ext cx="7704667" cy="5733116"/>
          </a:xfrm>
        </p:spPr>
        <p:txBody>
          <a:bodyPr/>
          <a:lstStyle/>
          <a:p>
            <a:pPr>
              <a:lnSpc>
                <a:spcPct val="107000"/>
              </a:lnSpc>
              <a:spcAft>
                <a:spcPts val="800"/>
              </a:spcAft>
              <a:buNone/>
            </a:pPr>
            <a:r>
              <a:rPr lang="en-KE" sz="4400" b="1" kern="1800" dirty="0" err="1">
                <a:effectLst/>
                <a:latin typeface="Times New Roman" panose="02020603050405020304" pitchFamily="18" charset="0"/>
                <a:ea typeface="Times New Roman" panose="02020603050405020304" pitchFamily="18" charset="0"/>
                <a:cs typeface="Times New Roman" panose="02020603050405020304" pitchFamily="18" charset="0"/>
              </a:rPr>
              <a:t>Gouraud</a:t>
            </a:r>
            <a:r>
              <a:rPr lang="en-KE" sz="4400" b="1" kern="1800" dirty="0">
                <a:effectLst/>
                <a:latin typeface="Times New Roman" panose="02020603050405020304" pitchFamily="18" charset="0"/>
                <a:ea typeface="Times New Roman" panose="02020603050405020304" pitchFamily="18" charset="0"/>
                <a:cs typeface="Times New Roman" panose="02020603050405020304" pitchFamily="18" charset="0"/>
              </a:rPr>
              <a:t> Shading</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In </a:t>
            </a:r>
            <a:r>
              <a:rPr lang="en-KE" sz="2400" kern="0" dirty="0" err="1">
                <a:effectLst/>
                <a:latin typeface="Times New Roman" panose="02020603050405020304" pitchFamily="18" charset="0"/>
                <a:ea typeface="Times New Roman" panose="02020603050405020304" pitchFamily="18" charset="0"/>
                <a:cs typeface="Times New Roman" panose="02020603050405020304" pitchFamily="18" charset="0"/>
              </a:rPr>
              <a:t>Gouraud</a:t>
            </a: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 shading:</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Lighting is calculated only at the </a:t>
            </a:r>
            <a:r>
              <a:rPr lang="en-KE" sz="2400" b="1" kern="0" dirty="0">
                <a:effectLst/>
                <a:latin typeface="Times New Roman" panose="02020603050405020304" pitchFamily="18" charset="0"/>
                <a:ea typeface="Times New Roman" panose="02020603050405020304" pitchFamily="18" charset="0"/>
                <a:cs typeface="Times New Roman" panose="02020603050405020304" pitchFamily="18" charset="0"/>
              </a:rPr>
              <a:t>vertices</a:t>
            </a: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 of a polygon.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computed </a:t>
            </a:r>
            <a:r>
              <a:rPr lang="en-KE" sz="2400" kern="0" dirty="0" err="1">
                <a:effectLst/>
                <a:latin typeface="Times New Roman" panose="02020603050405020304" pitchFamily="18" charset="0"/>
                <a:ea typeface="Times New Roman" panose="02020603050405020304" pitchFamily="18" charset="0"/>
                <a:cs typeface="Times New Roman" panose="02020603050405020304" pitchFamily="18" charset="0"/>
              </a:rPr>
              <a:t>colors</a:t>
            </a: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/intensities at the vertices are then </a:t>
            </a:r>
            <a:r>
              <a:rPr lang="en-KE" sz="2400" b="1" kern="0" dirty="0">
                <a:effectLst/>
                <a:latin typeface="Times New Roman" panose="02020603050405020304" pitchFamily="18" charset="0"/>
                <a:ea typeface="Times New Roman" panose="02020603050405020304" pitchFamily="18" charset="0"/>
                <a:cs typeface="Times New Roman" panose="02020603050405020304" pitchFamily="18" charset="0"/>
              </a:rPr>
              <a:t>interpolated</a:t>
            </a: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 across the polygon surface.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800" b="1" kern="0" dirty="0">
                <a:effectLst/>
                <a:latin typeface="Times New Roman" panose="02020603050405020304" pitchFamily="18" charset="0"/>
                <a:ea typeface="Times New Roman" panose="02020603050405020304" pitchFamily="18" charset="0"/>
                <a:cs typeface="Times New Roman" panose="02020603050405020304" pitchFamily="18" charset="0"/>
              </a:rPr>
              <a:t>Process</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Compute normal vector at each vertex.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Apply illumination model at each vertex.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KE" sz="2400" kern="0" dirty="0">
                <a:effectLst/>
                <a:latin typeface="Times New Roman" panose="02020603050405020304" pitchFamily="18" charset="0"/>
                <a:ea typeface="Times New Roman" panose="02020603050405020304" pitchFamily="18" charset="0"/>
              </a:rPr>
              <a:t>Interpolate the resulting </a:t>
            </a:r>
            <a:r>
              <a:rPr lang="en-KE" sz="2400" kern="0" dirty="0" err="1">
                <a:effectLst/>
                <a:latin typeface="Times New Roman" panose="02020603050405020304" pitchFamily="18" charset="0"/>
                <a:ea typeface="Times New Roman" panose="02020603050405020304" pitchFamily="18" charset="0"/>
              </a:rPr>
              <a:t>color</a:t>
            </a:r>
            <a:r>
              <a:rPr lang="en-KE" sz="2400" kern="0" dirty="0">
                <a:effectLst/>
                <a:latin typeface="Times New Roman" panose="02020603050405020304" pitchFamily="18" charset="0"/>
                <a:ea typeface="Times New Roman" panose="02020603050405020304" pitchFamily="18" charset="0"/>
              </a:rPr>
              <a:t> values across the polygon</a:t>
            </a:r>
            <a:endParaRPr lang="en-KE" dirty="0"/>
          </a:p>
        </p:txBody>
      </p:sp>
    </p:spTree>
    <p:extLst>
      <p:ext uri="{BB962C8B-B14F-4D97-AF65-F5344CB8AC3E}">
        <p14:creationId xmlns:p14="http://schemas.microsoft.com/office/powerpoint/2010/main" val="2037577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EE0654-2B0E-D81B-D467-9F15B4D4C529}"/>
              </a:ext>
            </a:extLst>
          </p:cNvPr>
          <p:cNvSpPr>
            <a:spLocks noGrp="1"/>
          </p:cNvSpPr>
          <p:nvPr>
            <p:ph idx="1"/>
          </p:nvPr>
        </p:nvSpPr>
        <p:spPr>
          <a:xfrm>
            <a:off x="982133" y="311150"/>
            <a:ext cx="7704667" cy="5688666"/>
          </a:xfrm>
        </p:spPr>
        <p:txBody>
          <a:bodyPr>
            <a:normAutofit fontScale="92500" lnSpcReduction="10000"/>
          </a:bodyPr>
          <a:lstStyle/>
          <a:p>
            <a:pPr>
              <a:lnSpc>
                <a:spcPct val="107000"/>
              </a:lnSpc>
              <a:spcAft>
                <a:spcPts val="800"/>
              </a:spcAft>
              <a:buNone/>
            </a:pPr>
            <a:r>
              <a:rPr lang="en-KE" sz="2800" b="1" kern="0" dirty="0">
                <a:effectLst/>
                <a:latin typeface="Times New Roman" panose="02020603050405020304" pitchFamily="18" charset="0"/>
                <a:ea typeface="Times New Roman" panose="02020603050405020304" pitchFamily="18" charset="0"/>
                <a:cs typeface="Times New Roman" panose="02020603050405020304" pitchFamily="18" charset="0"/>
              </a:rPr>
              <a:t>Characteristics</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Fast and computationally inexpensive.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Produces smoother results than flat shading.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But may miss important lighting details.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800" b="1" kern="0" dirty="0">
                <a:effectLst/>
                <a:latin typeface="Times New Roman" panose="02020603050405020304" pitchFamily="18" charset="0"/>
                <a:ea typeface="Times New Roman" panose="02020603050405020304" pitchFamily="18" charset="0"/>
                <a:cs typeface="Times New Roman" panose="02020603050405020304" pitchFamily="18" charset="0"/>
              </a:rPr>
              <a:t>Problem: Rough Appearance</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Because lighting is computed only at vertices:</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If a polygon is large, interpolation may not accurately represent rapid lighting variations.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Specular highlights (bright shiny spots) can disappear unless they occur exactly at a vertex.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surface may appear patchy or less realistic.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KE" sz="2400" kern="0" dirty="0">
                <a:effectLst/>
                <a:latin typeface="Times New Roman" panose="02020603050405020304" pitchFamily="18" charset="0"/>
                <a:ea typeface="Times New Roman" panose="02020603050405020304" pitchFamily="18" charset="0"/>
              </a:rPr>
              <a:t>This creates a somewhat “rough” or less refined appearance</a:t>
            </a:r>
            <a:endParaRPr lang="en-KE" dirty="0"/>
          </a:p>
        </p:txBody>
      </p:sp>
    </p:spTree>
    <p:extLst>
      <p:ext uri="{BB962C8B-B14F-4D97-AF65-F5344CB8AC3E}">
        <p14:creationId xmlns:p14="http://schemas.microsoft.com/office/powerpoint/2010/main" val="235907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9567D2-79B0-A498-786E-936CE806C7F4}"/>
              </a:ext>
            </a:extLst>
          </p:cNvPr>
          <p:cNvSpPr>
            <a:spLocks noGrp="1"/>
          </p:cNvSpPr>
          <p:nvPr>
            <p:ph idx="1"/>
          </p:nvPr>
        </p:nvSpPr>
        <p:spPr>
          <a:xfrm>
            <a:off x="982133" y="387350"/>
            <a:ext cx="7704667" cy="5612466"/>
          </a:xfrm>
        </p:spPr>
        <p:txBody>
          <a:bodyPr/>
          <a:lstStyle/>
          <a:p>
            <a:pPr>
              <a:lnSpc>
                <a:spcPct val="107000"/>
              </a:lnSpc>
              <a:spcAft>
                <a:spcPts val="800"/>
              </a:spcAft>
              <a:buNone/>
            </a:pPr>
            <a:r>
              <a:rPr lang="en-KE" sz="4400" b="1" kern="1800" dirty="0">
                <a:effectLst/>
                <a:latin typeface="Times New Roman" panose="02020603050405020304" pitchFamily="18" charset="0"/>
                <a:ea typeface="Times New Roman" panose="02020603050405020304" pitchFamily="18" charset="0"/>
                <a:cs typeface="Times New Roman" panose="02020603050405020304" pitchFamily="18" charset="0"/>
              </a:rPr>
              <a:t>Phong Shading</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In Phong shading:</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Surface </a:t>
            </a:r>
            <a:r>
              <a:rPr lang="en-KE" sz="24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normals</a:t>
            </a: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 are interpolated across the polygon.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Lighting calculations are performed for </a:t>
            </a:r>
            <a:r>
              <a:rPr lang="en-KE" sz="2400" b="1" kern="0" dirty="0">
                <a:effectLst/>
                <a:latin typeface="Times New Roman" panose="02020603050405020304" pitchFamily="18" charset="0"/>
                <a:ea typeface="Times New Roman" panose="02020603050405020304" pitchFamily="18" charset="0"/>
                <a:cs typeface="Times New Roman" panose="02020603050405020304" pitchFamily="18" charset="0"/>
              </a:rPr>
              <a:t>every pixel</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 texel</a:t>
            </a: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800" b="1" kern="0" dirty="0">
                <a:effectLst/>
                <a:latin typeface="Times New Roman" panose="02020603050405020304" pitchFamily="18" charset="0"/>
                <a:ea typeface="Times New Roman" panose="02020603050405020304" pitchFamily="18" charset="0"/>
                <a:cs typeface="Times New Roman" panose="02020603050405020304" pitchFamily="18" charset="0"/>
              </a:rPr>
              <a:t>Process</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Compute </a:t>
            </a:r>
            <a:r>
              <a:rPr lang="en-KE" sz="24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normals</a:t>
            </a: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vertices.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Interpolate </a:t>
            </a:r>
            <a:r>
              <a:rPr lang="en-KE" sz="24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normals</a:t>
            </a: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 across the surface.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KE" dirty="0"/>
          </a:p>
        </p:txBody>
      </p:sp>
    </p:spTree>
    <p:extLst>
      <p:ext uri="{BB962C8B-B14F-4D97-AF65-F5344CB8AC3E}">
        <p14:creationId xmlns:p14="http://schemas.microsoft.com/office/powerpoint/2010/main" val="4110465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F3C2B8-2F38-80C6-5853-F0807BFD0ABC}"/>
              </a:ext>
            </a:extLst>
          </p:cNvPr>
          <p:cNvSpPr>
            <a:spLocks noGrp="1"/>
          </p:cNvSpPr>
          <p:nvPr>
            <p:ph idx="1"/>
          </p:nvPr>
        </p:nvSpPr>
        <p:spPr>
          <a:xfrm>
            <a:off x="982133" y="450850"/>
            <a:ext cx="7704667" cy="5548966"/>
          </a:xfrm>
        </p:spPr>
        <p:txBody>
          <a:bodyPr>
            <a:normAutofit fontScale="92500" lnSpcReduction="20000"/>
          </a:bodyPr>
          <a:lstStyle/>
          <a:p>
            <a:pPr>
              <a:lnSpc>
                <a:spcPct val="107000"/>
              </a:lnSpc>
              <a:spcAft>
                <a:spcPts val="800"/>
              </a:spcAft>
              <a:buNone/>
            </a:pPr>
            <a:r>
              <a:rPr lang="en-KE" sz="2800" b="1" kern="0" dirty="0">
                <a:effectLst/>
                <a:latin typeface="Times New Roman" panose="02020603050405020304" pitchFamily="18" charset="0"/>
                <a:ea typeface="Times New Roman" panose="02020603050405020304" pitchFamily="18" charset="0"/>
                <a:cs typeface="Times New Roman" panose="02020603050405020304" pitchFamily="18" charset="0"/>
              </a:rPr>
              <a:t>Characteristics</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Much smoother and more realistic.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Captures specular highlights accurately.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Produces high-quality curved surface appearance.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Because lighting is evaluated per pixel, transitions are smoother and details are preserved.</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b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4400" b="1" kern="1800" dirty="0">
                <a:effectLst/>
                <a:latin typeface="Times New Roman" panose="02020603050405020304" pitchFamily="18" charset="0"/>
                <a:ea typeface="Times New Roman" panose="02020603050405020304" pitchFamily="18" charset="0"/>
                <a:cs typeface="Times New Roman" panose="02020603050405020304" pitchFamily="18" charset="0"/>
              </a:rPr>
              <a:t>3. Why </a:t>
            </a:r>
            <a:r>
              <a:rPr lang="en-KE" sz="4400" b="1" kern="1800" dirty="0" err="1">
                <a:effectLst/>
                <a:latin typeface="Times New Roman" panose="02020603050405020304" pitchFamily="18" charset="0"/>
                <a:ea typeface="Times New Roman" panose="02020603050405020304" pitchFamily="18" charset="0"/>
                <a:cs typeface="Times New Roman" panose="02020603050405020304" pitchFamily="18" charset="0"/>
              </a:rPr>
              <a:t>Gouraud</a:t>
            </a:r>
            <a:r>
              <a:rPr lang="en-KE" sz="4400" b="1" kern="1800" dirty="0">
                <a:effectLst/>
                <a:latin typeface="Times New Roman" panose="02020603050405020304" pitchFamily="18" charset="0"/>
                <a:ea typeface="Times New Roman" panose="02020603050405020304" pitchFamily="18" charset="0"/>
                <a:cs typeface="Times New Roman" panose="02020603050405020304" pitchFamily="18" charset="0"/>
              </a:rPr>
              <a:t> Looks Rough Compared to Phong</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key difference is </a:t>
            </a:r>
            <a:r>
              <a:rPr lang="en-KE" sz="2400" b="1" kern="0" dirty="0">
                <a:effectLst/>
                <a:latin typeface="Times New Roman" panose="02020603050405020304" pitchFamily="18" charset="0"/>
                <a:ea typeface="Times New Roman" panose="02020603050405020304" pitchFamily="18" charset="0"/>
                <a:cs typeface="Times New Roman" panose="02020603050405020304" pitchFamily="18" charset="0"/>
              </a:rPr>
              <a:t>where illumination is calculated</a:t>
            </a: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3187702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63CFCF26-BDD2-D974-7C3A-D0F0E71527D6}"/>
              </a:ext>
            </a:extLst>
          </p:cNvPr>
          <p:cNvGraphicFramePr>
            <a:graphicFrameLocks noGrp="1"/>
          </p:cNvGraphicFramePr>
          <p:nvPr>
            <p:ph idx="1"/>
            <p:extLst>
              <p:ext uri="{D42A27DB-BD31-4B8C-83A1-F6EECF244321}">
                <p14:modId xmlns:p14="http://schemas.microsoft.com/office/powerpoint/2010/main" val="979211222"/>
              </p:ext>
            </p:extLst>
          </p:nvPr>
        </p:nvGraphicFramePr>
        <p:xfrm>
          <a:off x="982662" y="889000"/>
          <a:ext cx="8021637" cy="4464048"/>
        </p:xfrm>
        <a:graphic>
          <a:graphicData uri="http://schemas.openxmlformats.org/drawingml/2006/table">
            <a:tbl>
              <a:tblPr firstRow="1" firstCol="1" bandRow="1">
                <a:tableStyleId>{5C22544A-7EE6-4342-B048-85BDC9FD1C3A}</a:tableStyleId>
              </a:tblPr>
              <a:tblGrid>
                <a:gridCol w="2673879">
                  <a:extLst>
                    <a:ext uri="{9D8B030D-6E8A-4147-A177-3AD203B41FA5}">
                      <a16:colId xmlns:a16="http://schemas.microsoft.com/office/drawing/2014/main" val="907977486"/>
                    </a:ext>
                  </a:extLst>
                </a:gridCol>
                <a:gridCol w="2673879">
                  <a:extLst>
                    <a:ext uri="{9D8B030D-6E8A-4147-A177-3AD203B41FA5}">
                      <a16:colId xmlns:a16="http://schemas.microsoft.com/office/drawing/2014/main" val="449101315"/>
                    </a:ext>
                  </a:extLst>
                </a:gridCol>
                <a:gridCol w="2673879">
                  <a:extLst>
                    <a:ext uri="{9D8B030D-6E8A-4147-A177-3AD203B41FA5}">
                      <a16:colId xmlns:a16="http://schemas.microsoft.com/office/drawing/2014/main" val="1117751471"/>
                    </a:ext>
                  </a:extLst>
                </a:gridCol>
              </a:tblGrid>
              <a:tr h="744008">
                <a:tc>
                  <a:txBody>
                    <a:bodyPr/>
                    <a:lstStyle/>
                    <a:p>
                      <a:pPr algn="ctr">
                        <a:lnSpc>
                          <a:spcPct val="107000"/>
                        </a:lnSpc>
                        <a:spcAft>
                          <a:spcPts val="800"/>
                        </a:spcAft>
                        <a:buNone/>
                      </a:pPr>
                      <a:r>
                        <a:rPr lang="en-KE" sz="2300" kern="0" dirty="0">
                          <a:effectLst/>
                        </a:rPr>
                        <a:t>Feature</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KE" sz="2300" kern="0">
                          <a:effectLst/>
                        </a:rPr>
                        <a:t>Gouraud Shading</a:t>
                      </a:r>
                      <a:endParaRPr lang="en-KE" sz="2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KE" sz="2300" kern="0">
                          <a:effectLst/>
                        </a:rPr>
                        <a:t>Phong Shading</a:t>
                      </a:r>
                      <a:endParaRPr lang="en-KE" sz="2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06427135"/>
                  </a:ext>
                </a:extLst>
              </a:tr>
              <a:tr h="744008">
                <a:tc>
                  <a:txBody>
                    <a:bodyPr/>
                    <a:lstStyle/>
                    <a:p>
                      <a:pPr>
                        <a:lnSpc>
                          <a:spcPct val="107000"/>
                        </a:lnSpc>
                        <a:spcAft>
                          <a:spcPts val="800"/>
                        </a:spcAft>
                        <a:buNone/>
                      </a:pPr>
                      <a:r>
                        <a:rPr lang="en-KE" sz="2300" kern="0" dirty="0">
                          <a:effectLst/>
                        </a:rPr>
                        <a:t>Lighting calculation</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dirty="0">
                          <a:effectLst/>
                        </a:rPr>
                        <a:t>At vertices</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dirty="0">
                          <a:effectLst/>
                        </a:rPr>
                        <a:t>At every pixel</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2188490"/>
                  </a:ext>
                </a:extLst>
              </a:tr>
              <a:tr h="744008">
                <a:tc>
                  <a:txBody>
                    <a:bodyPr/>
                    <a:lstStyle/>
                    <a:p>
                      <a:pPr>
                        <a:lnSpc>
                          <a:spcPct val="107000"/>
                        </a:lnSpc>
                        <a:spcAft>
                          <a:spcPts val="800"/>
                        </a:spcAft>
                        <a:buNone/>
                      </a:pPr>
                      <a:r>
                        <a:rPr lang="en-KE" sz="2300" kern="0">
                          <a:effectLst/>
                        </a:rPr>
                        <a:t>Interpolation</a:t>
                      </a:r>
                      <a:endParaRPr lang="en-KE" sz="2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a:effectLst/>
                        </a:rPr>
                        <a:t>Colors/intensities</a:t>
                      </a:r>
                      <a:endParaRPr lang="en-KE" sz="2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dirty="0">
                          <a:effectLst/>
                        </a:rPr>
                        <a:t>Surface </a:t>
                      </a:r>
                      <a:r>
                        <a:rPr lang="en-KE" sz="2300" kern="0" dirty="0" err="1">
                          <a:effectLst/>
                        </a:rPr>
                        <a:t>normals</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12744429"/>
                  </a:ext>
                </a:extLst>
              </a:tr>
              <a:tr h="744008">
                <a:tc>
                  <a:txBody>
                    <a:bodyPr/>
                    <a:lstStyle/>
                    <a:p>
                      <a:pPr>
                        <a:lnSpc>
                          <a:spcPct val="107000"/>
                        </a:lnSpc>
                        <a:spcAft>
                          <a:spcPts val="800"/>
                        </a:spcAft>
                        <a:buNone/>
                      </a:pPr>
                      <a:r>
                        <a:rPr lang="en-KE" sz="2300" kern="0">
                          <a:effectLst/>
                        </a:rPr>
                        <a:t>Specular highlights</a:t>
                      </a:r>
                      <a:endParaRPr lang="en-KE" sz="2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a:effectLst/>
                        </a:rPr>
                        <a:t>Often missed</a:t>
                      </a:r>
                      <a:endParaRPr lang="en-KE" sz="2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dirty="0">
                          <a:effectLst/>
                        </a:rPr>
                        <a:t>Accurate</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63674853"/>
                  </a:ext>
                </a:extLst>
              </a:tr>
              <a:tr h="744008">
                <a:tc>
                  <a:txBody>
                    <a:bodyPr/>
                    <a:lstStyle/>
                    <a:p>
                      <a:pPr>
                        <a:lnSpc>
                          <a:spcPct val="107000"/>
                        </a:lnSpc>
                        <a:spcAft>
                          <a:spcPts val="800"/>
                        </a:spcAft>
                        <a:buNone/>
                      </a:pPr>
                      <a:r>
                        <a:rPr lang="en-KE" sz="2300" kern="0">
                          <a:effectLst/>
                        </a:rPr>
                        <a:t>Appearance</a:t>
                      </a:r>
                      <a:endParaRPr lang="en-KE" sz="2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dirty="0">
                          <a:effectLst/>
                        </a:rPr>
                        <a:t>Rougher</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dirty="0">
                          <a:effectLst/>
                        </a:rPr>
                        <a:t>Smoother</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31928481"/>
                  </a:ext>
                </a:extLst>
              </a:tr>
              <a:tr h="744008">
                <a:tc>
                  <a:txBody>
                    <a:bodyPr/>
                    <a:lstStyle/>
                    <a:p>
                      <a:pPr>
                        <a:lnSpc>
                          <a:spcPct val="107000"/>
                        </a:lnSpc>
                        <a:spcAft>
                          <a:spcPts val="800"/>
                        </a:spcAft>
                        <a:buNone/>
                      </a:pPr>
                      <a:r>
                        <a:rPr lang="en-KE" sz="2300" kern="0">
                          <a:effectLst/>
                        </a:rPr>
                        <a:t>Computational cost</a:t>
                      </a:r>
                      <a:endParaRPr lang="en-KE" sz="2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dirty="0">
                          <a:effectLst/>
                        </a:rPr>
                        <a:t>Lower</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KE" sz="2300" kern="0" dirty="0">
                          <a:effectLst/>
                        </a:rPr>
                        <a:t>Higher</a:t>
                      </a:r>
                      <a:endParaRPr lang="en-KE" sz="2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67849842"/>
                  </a:ext>
                </a:extLst>
              </a:tr>
            </a:tbl>
          </a:graphicData>
        </a:graphic>
      </p:graphicFrame>
    </p:spTree>
    <p:extLst>
      <p:ext uri="{BB962C8B-B14F-4D97-AF65-F5344CB8AC3E}">
        <p14:creationId xmlns:p14="http://schemas.microsoft.com/office/powerpoint/2010/main" val="3075154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1232A9-0D2A-61A3-3F2A-7FFACD0DE403}"/>
              </a:ext>
            </a:extLst>
          </p:cNvPr>
          <p:cNvSpPr>
            <a:spLocks noGrp="1"/>
          </p:cNvSpPr>
          <p:nvPr>
            <p:ph idx="1"/>
          </p:nvPr>
        </p:nvSpPr>
        <p:spPr>
          <a:xfrm>
            <a:off x="982133" y="355600"/>
            <a:ext cx="7704667" cy="5644216"/>
          </a:xfrm>
        </p:spPr>
        <p:txBody>
          <a:bodyPr/>
          <a:lstStyle/>
          <a:p>
            <a:pPr>
              <a:lnSpc>
                <a:spcPct val="107000"/>
              </a:lnSpc>
              <a:spcAft>
                <a:spcPts val="800"/>
              </a:spcAft>
              <a:buNone/>
            </a:pPr>
            <a:r>
              <a:rPr lang="en-KE" sz="4400" b="1" kern="1800" dirty="0">
                <a:effectLst/>
                <a:latin typeface="Times New Roman" panose="02020603050405020304" pitchFamily="18" charset="0"/>
                <a:ea typeface="Times New Roman" panose="02020603050405020304" pitchFamily="18" charset="0"/>
                <a:cs typeface="Times New Roman" panose="02020603050405020304" pitchFamily="18" charset="0"/>
              </a:rPr>
              <a:t>Example of the Difference</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Imagine a shiny metallic sphere illuminated by a light source.</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800" b="1" kern="0" dirty="0">
                <a:effectLst/>
                <a:latin typeface="Times New Roman" panose="02020603050405020304" pitchFamily="18" charset="0"/>
                <a:ea typeface="Times New Roman" panose="02020603050405020304" pitchFamily="18" charset="0"/>
                <a:cs typeface="Times New Roman" panose="02020603050405020304" pitchFamily="18" charset="0"/>
              </a:rPr>
              <a:t>In </a:t>
            </a:r>
            <a:r>
              <a:rPr lang="en-KE"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Gouraud</a:t>
            </a:r>
            <a:r>
              <a:rPr lang="en-KE"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Shading</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If the bright highlight falls between vertices, it may not appear.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sphere can look faceted or dull.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KE" sz="2800" b="1" kern="0" dirty="0">
                <a:effectLst/>
                <a:latin typeface="Times New Roman" panose="02020603050405020304" pitchFamily="18" charset="0"/>
                <a:ea typeface="Times New Roman" panose="02020603050405020304" pitchFamily="18" charset="0"/>
                <a:cs typeface="Times New Roman" panose="02020603050405020304" pitchFamily="18" charset="0"/>
              </a:rPr>
              <a:t>In Phong Shading</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highlight is computed at pixel level. </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KE"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sphere appears smooth and glossy</a:t>
            </a:r>
            <a:endParaRPr lang="en-KE"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13370118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742</TotalTime>
  <Words>2291</Words>
  <Application>Microsoft Office PowerPoint</Application>
  <PresentationFormat>On-screen Show (4:3)</PresentationFormat>
  <Paragraphs>165</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Book Antiqua</vt:lpstr>
      <vt:lpstr>Calibri</vt:lpstr>
      <vt:lpstr>Corbel</vt:lpstr>
      <vt:lpstr>Symbol</vt:lpstr>
      <vt:lpstr>Times New Roman</vt:lpstr>
      <vt:lpstr>Parallax</vt:lpstr>
      <vt:lpstr>LIGHTING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USER</cp:lastModifiedBy>
  <cp:revision>24</cp:revision>
  <dcterms:created xsi:type="dcterms:W3CDTF">2013-01-27T09:14:16Z</dcterms:created>
  <dcterms:modified xsi:type="dcterms:W3CDTF">2026-05-19T10:25:42Z</dcterms:modified>
  <cp:category/>
</cp:coreProperties>
</file>